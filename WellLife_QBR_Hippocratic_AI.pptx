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3774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633472"/>
            <a:ext cx="54864" cy="223113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HIPPOCRATIC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C"/>
                </a:solidFill>
              </a:rPr>
              <a:t>CONFIDENTIAL  |  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Rebuilding for the Long Term: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89C"/>
                </a:solidFill>
              </a:rPr>
              <a:t>A Partnership Turnaround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WellLife Health System  |  Quarterly Business Review  |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Presented by: Kelly Williams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C"/>
                </a:solidFill>
              </a:rPr>
              <a:t>VP, Customer Success  —  Hippocratic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Where We Stand — and Why This QBR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13716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64008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9 Months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Partnership launched with
strong early momentum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13716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64008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55%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Only half of planned
departments fully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13716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64008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Renewal On 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Pending outcome
of this QBR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Our Objectives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530352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90"/>
              </a:spcBef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</a:rPr>
              <a:t>✦  Acknowledge what isn't working — with full transparency</a:t>
            </a:r>
          </a:p>
          <a:p>
            <a:pPr algn="l">
              <a:spcBef>
                <a:spcPts val="390"/>
              </a:spcBef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</a:rPr>
              <a:t>✦  Present a concrete, time-bound turnaround plan</a:t>
            </a:r>
          </a:p>
          <a:p>
            <a:pPr algn="l">
              <a:spcBef>
                <a:spcPts val="390"/>
              </a:spcBef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</a:rPr>
              <a:t>✦  Re-establish clear ownership and accountability</a:t>
            </a:r>
          </a:p>
          <a:p>
            <a:pPr algn="l">
              <a:spcBef>
                <a:spcPts val="390"/>
              </a:spcBef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</a:rPr>
              <a:t>✦  Align on measurable success milestones for the next 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Our Commitment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46120"/>
            <a:ext cx="521208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WellLife chose Hippocratic AI to extend your care team's reach — to connect more patients, reduce staff burden, and improve access. That mission has not changed. What needs to change is how we show up as a partner every single day. That work starts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Four Interconnected Failure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577840" cy="228600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411480" cy="22860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353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Implementation Drift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4846320" cy="2743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Workflow configurations were not mapped to department-level scheduling rules before go-live. Phase 2 expanded scope faster than validation could keep up, leaving gaps between how the voice agent behaves and how each department actually operates.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577840" cy="228600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411480" cy="2286000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53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Governance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59" y="1783080"/>
            <a:ext cx="4846320" cy="27432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901952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Local script modifications were made by WellLife ops teams outside of the agreed governance review process. Without a shared change-control framework, both sides lost visibility — creating a cycle of friction, workarounds, and eroding trust.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0479"/>
            <a:ext cx="5577840" cy="228600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40479"/>
            <a:ext cx="411480" cy="22860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9136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Platform Reliability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43399"/>
            <a:ext cx="4846320" cy="2743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1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 recent platform update introduced latency and voice quality issues that were not caught in pre-release testing. Repeated escalations — paused responses, looping questions — directly damaged frontline staff confidence in a clinical-facing tool.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40479"/>
            <a:ext cx="5577840" cy="228600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40479"/>
            <a:ext cx="411480" cy="2286000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9136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931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CS Model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59" y="4343399"/>
            <a:ext cx="4846320" cy="27432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4462271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Reactive, siloed support with no single owner left WellLife stakeholders feeling handed off between teams. The absence of proactive communication — especially around updates, known issues, and roadmap — signaled to the client that they were not a priority.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STRATEGIC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90-Day Turnaround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03320" cy="53035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03320" cy="54864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C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Days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STABILIZE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3383280" cy="274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Assign dedicated Client Success Pod with named owner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Complete full workflow audit across all live departments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Deploy hotfix for latency/voice quality; establish regression testing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Institute 48-hr ticket SLA with escalation path to CS lead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Weekly executive check-ins with WellLife 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03320" cy="53035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3703320" cy="54864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8C0"/>
                </a:solidFill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Days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ALIGN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304288"/>
            <a:ext cx="3383280" cy="27432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42316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Co-design department-specific workflow playbooks with WellLife ops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Launch joint governance committee (Hippocratic AI + WellLife IT + Clinical Ops)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Introduce roadmap co-input sessions — WellLife priorities reflected in Q3 plan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Rebuild script library using approved, governed templates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Present mid-point progress report with metrics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234440"/>
            <a:ext cx="3703320" cy="53035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234440"/>
            <a:ext cx="3703320" cy="54864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B872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Days 61–90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ACCELERATE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304288"/>
            <a:ext cx="3383280" cy="2743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423160"/>
            <a:ext cx="3429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Expand from 55% → 85%+ department adoption with validated configs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Launch proactive communication cadence: release previews, issue alerts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Establish QBR rhythm: monthly operational + quarterly strategic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Re-open renewal conversation with full confidence data package</a:t>
            </a:r>
          </a:p>
          <a:p>
            <a:pPr algn="l">
              <a:spcBef>
                <a:spcPts val="275"/>
              </a:spcBef>
              <a:spcAft>
                <a:spcPts val="275"/>
              </a:spcAft>
            </a:pPr>
            <a:r>
              <a:rPr sz="1100" b="0">
                <a:solidFill>
                  <a:srgbClr val="F0F4F8"/>
                </a:solidFill>
              </a:rPr>
              <a:t>• Present 180-day expansion roadmap for new service 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ENGAGEMENT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One Team. One Owner. No Handoffs.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Dedicated WellLife Client Pod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48640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2560320" cy="13258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4008" cy="13258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VP, Customer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Executive sponsor &amp; escalation owner.
Single point of accountability.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1737360"/>
            <a:ext cx="2560320" cy="13258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79" y="1737360"/>
            <a:ext cx="64008" cy="1325880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Clinical Success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Embedded in WellLife clinical ops.
Workflow alignment &amp; adoption.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2560320" cy="13258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Technical Solutions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Owns platform performance,
bug resolution &amp; config governance.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3246120"/>
            <a:ext cx="2560320" cy="132588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79" y="3246120"/>
            <a:ext cx="64008" cy="132588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Support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7490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Dedicated queue. 48-hr SLA.
Proactive issue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C"/>
                </a:solidFill>
              </a:rPr>
              <a:t>Operating Cadence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00200"/>
            <a:ext cx="5440680" cy="36576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440680" cy="804672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783080"/>
            <a:ext cx="73152" cy="80467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Weekly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Operational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</a:rPr>
              <a:t>CS Lead + WellLife Access Center &amp;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79191"/>
            <a:ext cx="5440680" cy="804672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679191"/>
            <a:ext cx="73152" cy="804672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72491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C8C0"/>
                </a:solidFill>
              </a:rPr>
              <a:t>Bi-Weekly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7249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Clinical Workflow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90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</a:rPr>
              <a:t>Clinical Success Partner + Dept Leads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575304"/>
            <a:ext cx="5440680" cy="804672"/>
          </a:xfrm>
          <a:prstGeom prst="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575304"/>
            <a:ext cx="73152" cy="804672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621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C2A"/>
                </a:solidFill>
              </a:rPr>
              <a:t>Monthly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621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Executive Briefing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9867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</a:rPr>
              <a:t>VP CS + WellLife SVP + Hippocratic AI Exec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471416"/>
            <a:ext cx="5440680" cy="804672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471416"/>
            <a:ext cx="73152" cy="80467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5171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B872"/>
                </a:solidFill>
              </a:rPr>
              <a:t>Quarterly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4517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Strategic QBR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882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</a:rPr>
              <a:t>Full leadership + outcomes + roadmap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367528"/>
            <a:ext cx="5440680" cy="804672"/>
          </a:xfrm>
          <a:prstGeom prst="rect">
            <a:avLst/>
          </a:prstGeom>
          <a:solidFill>
            <a:srgbClr val="1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367528"/>
            <a:ext cx="73152" cy="80467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4132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534F"/>
                </a:solidFill>
              </a:rPr>
              <a:t>On Demand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Escalation Bridge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7790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</a:rPr>
              <a:t>&lt;2hr response, named owner, no handoffs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How We'll Know It's 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834640" cy="534924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834640" cy="54864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9C"/>
                </a:solidFill>
              </a:rPr>
              <a:t>Platform
Reliability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20240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9659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Voice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&lt; 400ms 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52374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&lt; 300ms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035808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0815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Uptime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3832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&lt; 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36393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99.9%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4151376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41970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Ticket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4988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&gt; 72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4754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&lt; 24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5266944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53126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Post-update regressions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56144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Unmonitored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8704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Zero tolerance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234440"/>
            <a:ext cx="2834640" cy="534924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1234440"/>
            <a:ext cx="2834640" cy="54864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DC8C0"/>
                </a:solidFill>
              </a:rPr>
              <a:t>Adoption
&amp; Utilization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920240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19659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Dept. adoption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22677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52374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85% by Day 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035808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30815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 task completion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8" y="33832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Baseline TBD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36393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+20% vs.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151376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1970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Manual override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44988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Elevated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4754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&lt; 10% per dept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5266944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53126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Staff training 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6144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Partial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58704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100% live depts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234440"/>
            <a:ext cx="2834640" cy="534924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1234440"/>
            <a:ext cx="2834640" cy="54864"/>
          </a:xfrm>
          <a:prstGeom prst="rect">
            <a:avLst/>
          </a:prstGeom>
          <a:solidFill>
            <a:srgbClr val="F58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C2A"/>
                </a:solidFill>
              </a:rPr>
              <a:t>Relationship
&amp; Trust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79" y="1920240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7" y="19659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WellLife NPS (internal)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7" y="22677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Negative / neutral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7" y="252374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Net positive by Day 90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79" y="3035808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4807" y="30815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Exec sentiment score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7" y="33832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Concern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4807" y="36393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Confident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79" y="4151376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64807" y="41970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Proactive comms sent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7" y="44988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Reactive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4807" y="4754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Weekly cadence live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79" y="5266944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7" y="53126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Renewal discussion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7" y="56144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On hold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4807" y="58704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Reopened by Day 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1234440"/>
            <a:ext cx="2834640" cy="534924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35440" y="1234440"/>
            <a:ext cx="2834640" cy="54864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7260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B872"/>
                </a:solidFill>
              </a:rPr>
              <a:t>Business
Outcomes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1920240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36608" y="19659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Patient connection 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36608" y="22677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Baseline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52374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+15% vs. pre-engagement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3035808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36608" y="30815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Call center deflection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36608" y="33832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Baseline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36608" y="36393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+25% by Day 90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4151376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36608" y="41970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Staff overtime (PAC)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36608" y="44988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Elevated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36608" y="47548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Returning to pre-pilot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5266944"/>
            <a:ext cx="2651760" cy="9601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36608" y="53126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Expansion pipeline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56144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534F"/>
                </a:solidFill>
              </a:rPr>
              <a:t>Now:  Paused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36608" y="58704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B872"/>
                </a:solidFill>
              </a:rPr>
              <a:t>Goal: 1 new service line scoped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9C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QBR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How We Frame This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164592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73152" cy="16459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C"/>
                </a:solidFill>
              </a:rPr>
              <a:t>OPEN: Acknowledge &amp;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0F4F8"/>
                </a:solidFill>
              </a:rPr>
              <a:t>"Before we go to slides — I want to acknowledge that the last several months have not reflected the partnership you were promised. Workflow gaps, technical issues, and feeling passed around without clear ownership: those are real, and they are on us. I am not here to explain them away. I am here to show you exactly what we are doing about it."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11521440" cy="164592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73152" cy="1645920"/>
          </a:xfrm>
          <a:prstGeom prst="rect">
            <a:avLst/>
          </a:prstGeom>
          <a:solidFill>
            <a:srgbClr val="4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C8C0"/>
                </a:solidFill>
              </a:rPr>
              <a:t>MIDDLE: Show the Plan with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02152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0F4F8"/>
                </a:solidFill>
              </a:rPr>
              <a:t>"We have done a full audit. We know where the breakdowns happened and why. What you will see today is not a list of intentions — it is a 90-day plan with named owners, measurable milestones, and a governance model that prevents these issues from recurring. We want you to hold us to every single one of these commitments."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92040"/>
            <a:ext cx="11521440" cy="1645920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892040"/>
            <a:ext cx="73152" cy="164592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B872"/>
                </a:solidFill>
              </a:rPr>
              <a:t>CLOSE: Reframe as Partnership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30952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0F4F8"/>
                </a:solidFill>
              </a:rPr>
              <a:t>"WellLife took a bold step partnering with Hippocratic AI. You believed that AI-powered voice agents could genuinely extend your care teams reach and improve patient access. We believe that too — and we have seen it work in your own early pilots. The goal of this QBR is to get back to that promise — together. We are asking for 90 days and your continued candor. In return, you will have a partner who shows up every week, not just when something breaks."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